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1A3A8A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8FE6"/>
                </a:solidFill>
                <a:latin typeface="Calibri"/>
              </a:defRPr>
            </a:pPr>
            <a:r>
              <a:t>IESA  |  60 años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Optimización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A8FE6"/>
                </a:solidFill>
                <a:latin typeface="Calibri"/>
              </a:defRPr>
            </a:pPr>
            <a:r>
              <a:t>Diagnóstico, Mapeo de Flujo de Valor</a:t>
            </a:r>
            <a:br/>
            <a:r>
              <a:t>y Plan de 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Material complementario del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Prof. Ulises González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8FE6"/>
                </a:solidFill>
                <a:latin typeface="Calibri"/>
              </a:defRPr>
            </a:pPr>
            <a:r>
              <a:t>linkedin.com/in/ulisesgonzalez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25 y 26 de marzo 2026  |  Virtual sincrónica  |  6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Agenda del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2 sesiones × 2.5 horas  |  100% práctico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5DEA"/>
                </a:solidFill>
                <a:latin typeface="Calibri"/>
              </a:defRPr>
            </a:pPr>
            <a:r>
              <a:t>Sesión 1 — Martes 25 de marzo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Bloque 1: Diagnóstico de fricción (75 min)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    → Identificar los 3 puntos de fricción principales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    → Herramientas: Diagnóstico de madurez + IA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Bloque 2: Value Stream Mapping parte 1 (75 min)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    → Mapear el proceso actual paso a paso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    → Calcular lead time y eficiencia de flujo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5DEA"/>
                </a:solidFill>
                <a:latin typeface="Calibri"/>
              </a:defRPr>
            </a:pPr>
            <a:r>
              <a:t>Sesión 2 — Miércoles 26 de marzo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Bloque 2: VSM parte 2 (60 min)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    → Riesgos contextuales y costo del desperdicio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    → Priorización de iniciativas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Bloque 3: Plan de acción 30 días (60 min)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    → Acciones, responsables, métricas y contingencias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Cierre y compromisos (30 min)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    → Reporte ejecutivo y peer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Parte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A8FE6"/>
                </a:solidFill>
                <a:latin typeface="Calibri"/>
              </a:defRPr>
            </a:pPr>
            <a:r>
              <a:t>Fundamentos de Lean Thinking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¿Qué es Lean Thinking?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La filosofía que cambió la manufactura — y luego todo lo demás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Filosofía de gestión originada en Toyota (1950s)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Principio central: maximizar el valor entregado al cliente eliminando todo lo que no agrega valor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5 principios (Womack &amp; Jones, 1996):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1. Definir valor desde el cliente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2. Mapear el flujo de valor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3. Crear flujo continuo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4. Establecer pull (jalar, no empujar)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5. Buscar la perfección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5DEA"/>
                </a:solidFill>
                <a:latin typeface="Calibri"/>
              </a:defRPr>
            </a:pPr>
            <a:r>
              <a:t>Impacto documentado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Toyota: de empresa en quiebra a líder mundial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Virginia Mason (salud): 0 muertes prevenibles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Amazon: Lean + tecnología = dominancia logística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Lean Enterprise Institute: 25+ años de evidencia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Referencia clave: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Womack, J. &amp; Jones, D. (1996). Lean Thinking.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Free Press / Simon &amp; Schuster.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Los 8 Desperdicios (Muda)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Taiichi Ohno — Toyota Production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1. Defectos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Errores que requieren corrección o descarte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2. Sobreproducción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Producir más o antes de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3. Esperas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Tiempo muerto entre pasos del proceso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4. Transporte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32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Movimiento innecesario de materiales o información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5. Inventario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Acumulación excesiva de WIP o materiales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6. Movimiento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54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Movimiento innecesario de personas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7. Sobreprocesamiento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43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Hacer más trabajo del que el cliente necesita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8. Talento no utilizado*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532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No aprovechar habilidades y creatividad de las personas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*El 8vo desperdicio fue agregado posteriormente al modelo original de Ohno. Ref: Liker, J. (2004). The Toyota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Muda en servicios, salud y tecnología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Los desperdicios no son solo de fábricas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Servicios financieros: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Esperas: aprobación de crédito manual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Defectos: datos incorrectos en solicitudes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Sobreprocesamiento: verificaciones redundantes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Salud: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Esperas: paciente esperando resultados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Movimiento: enfermeras buscando insumos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Defectos: errores de medicación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Tecnología / SaaS: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Sobreproducción: features que nadie usa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Inventario: backlog de 200+ tickets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Talento: developers en reuniones todo el día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Logística (contexto Venezuela):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Esperas: hold financiero, microcortes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Transporte: coordinación por WhatsApp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Inventario: quiebre de empaque importado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Parte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A8FE6"/>
                </a:solidFill>
                <a:latin typeface="Calibri"/>
              </a:defRPr>
            </a:pPr>
            <a:r>
              <a:t>Value Stream Mapping (VSM)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Value Stream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La herramienta que hace visible lo invisible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  <a:defRPr sz="1800">
                <a:solidFill>
                  <a:srgbClr val="0A1628"/>
                </a:solidFill>
                <a:latin typeface="Calibri"/>
              </a:defRPr>
            </a:pPr>
            <a:r>
              <a:t>Un VSM es un mapa visual de TODOS los pasos necesarios para llevar un producto o servicio desde la solicitud hasta la entrega.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5DEA"/>
                </a:solidFill>
                <a:latin typeface="Calibri"/>
              </a:defRPr>
            </a:pPr>
            <a:r>
              <a:t>¿Qué captura?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Cada paso del proceso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Tiempo de proceso (trabajo activo)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Tiempo de espera (entre pasos)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% de retrabajo por paso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Sistemas y herramientas usadas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Si cada paso agrega valor al cliente o 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5DEA"/>
                </a:solidFill>
                <a:latin typeface="Calibri"/>
              </a:defRPr>
            </a:pPr>
            <a:r>
              <a:t>Métricas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91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Lead time total = proceso + esperas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Tiempo de valor = solo pasos con valor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Eficiencia de flujo = valor / lead time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En la mayoría de empresas: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Eficiencia de flujo = 1% a 5%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(95-99% del tiempo es espera, no trabajo)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Referencia: Rother, M. &amp; Shook, J. (1999). Learning to See. Lean Enterprise Institute.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Cómo construir un VSM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Paso a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  <a:latin typeface="Calibri"/>
              </a:defRPr>
            </a:pPr>
            <a:r>
              <a:t>1. Define el alcance: punto de inicio y punto final del proceso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  <a:latin typeface="Calibri"/>
              </a:defRPr>
            </a:pPr>
            <a:r>
              <a:t>2. Camina el proceso real (Gemba walk) — no mapees desde la oficina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  <a:latin typeface="Calibri"/>
              </a:defRPr>
            </a:pPr>
            <a:r>
              <a:t>3. Lista cada paso en orden secuencial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  <a:latin typeface="Calibri"/>
              </a:defRPr>
            </a:pPr>
            <a:r>
              <a:t>4. Para cada paso registra: tiempo de proceso, espera, retrabajo, sistema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  <a:latin typeface="Calibri"/>
              </a:defRPr>
            </a:pPr>
            <a:r>
              <a:t>5. Marca qué pasos agregan valor al cliente final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  <a:latin typeface="Calibri"/>
              </a:defRPr>
            </a:pPr>
            <a:r>
              <a:t>6. Calcula lead time total y eficiencia de flujo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  <a:latin typeface="Calibri"/>
              </a:defRPr>
            </a:pPr>
            <a:r>
              <a:t>7. Identifica el cuello de botella (mayor espera)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  <a:latin typeface="Calibri"/>
              </a:defRPr>
            </a:pPr>
            <a:r>
              <a:t>8. Detecta los desperdicios más costosos</a:t>
            </a:r>
          </a:p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  <a:latin typeface="Calibri"/>
              </a:defRPr>
            </a:pPr>
            <a:r>
              <a:t>9. Diseña el estado futuro eliminando desperdicios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5DEA"/>
                </a:solidFill>
                <a:latin typeface="Calibri"/>
              </a:defRPr>
            </a:pPr>
            <a:r>
              <a:t>Tip: 'Si no puedes describirlo como proceso, no lo entiendes' — W. Edwards Deming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Gemba Walk — Ir al lugar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Herramienta complementaria clave para VSM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Gemba (現場) = 'el lugar real' en japonés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Principio: los datos reales están donde ocurre el trabajo, no en la sala de reuniones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Reglas del Gemba Walk: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Ve a observar, no a inspeccionar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Pregunta '¿por qué?' 5 veces (5 Whys)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Respeta al trabajador: tú estás aprendiendo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Toma notas, no decisiones en el momento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Vuelve a la sala y actúa sobre lo observado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DEA"/>
                </a:solidFill>
                <a:latin typeface="Calibri"/>
              </a:defRPr>
            </a:pPr>
            <a:r>
              <a:t>Preguntas poderosas en el Gemba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¿Qué está pasando aquí ahora mismo?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¿Cuánto tiempo lleva esperando esto?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¿Con qué frecuencia pasa este problema?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¿Qué haces cuando el sistema se cae?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¿Quién toma esta decisión normalmente?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¿Qué harías diferente si pudieras?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¿Dónde sientes que se pierde más tiempo?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Ref: Imai, M. (1997). Gemba Kaizen. McGraw-Hill. | Ohno, T. (1988). Toyota Production System. Productivity Press.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Parte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A8FE6"/>
                </a:solidFill>
                <a:latin typeface="Calibri"/>
              </a:defRPr>
            </a:pPr>
            <a:r>
              <a:t>Herramientas complementarias de alto valor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Los 5 Porqués (5 Whys)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Análisis de causa raíz — Sakichi Toyoda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  <a:latin typeface="Calibri"/>
              </a:defRPr>
            </a:pPr>
            <a:r>
              <a:t>Técnica iterativa para llegar a la causa raíz de un problema preguntando '¿por qué?' repetidamente.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5DEA"/>
                </a:solidFill>
                <a:latin typeface="Calibri"/>
              </a:defRPr>
            </a:pPr>
            <a:r>
              <a:t>Ejemplo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Problema: El pedido llegó tarde al cliente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¿Por qué? → El despacho salió después de las 4 PM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¿Por qué? → El picking no estuvo listo a tiempo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¿Por qué? → Hubo retrabajo en la preparación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¿Por qué? → La hoja de picking tenía cantidades incorrectas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¿Por qué? → El sistema no valida cantidades contra inventario real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Causa raíz: falta de validación sistema vs inventario físico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5DEA"/>
                </a:solidFill>
                <a:latin typeface="Calibri"/>
              </a:defRPr>
            </a:pPr>
            <a:r>
              <a:t>Reglas de aplicación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No te detengas en la primera respuesta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No busques culpables — busca sistemas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Valida cada respuesta con datos cuando sea posible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A veces son 3 porqués, a veces 7 — el número 5 es guía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Si llegas a 'falta de dinero' o 'falta de gente' probablemente te desviaste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Ref: Ohno, T. (1988). Toyota Production System.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Productivity Press.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Diagrama de Ishikawa (Espina de Pescado)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Análisis de causas por categoría — Kaoru Ishikawa, 1960s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  <a:latin typeface="Calibri"/>
              </a:defRPr>
            </a:pPr>
            <a:r>
              <a:t>Organiza las posibles causas de un problema en categorías para un análisis estructurado.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DEA"/>
                </a:solidFill>
                <a:latin typeface="Calibri"/>
              </a:defRPr>
            </a:pPr>
            <a:r>
              <a:t>Las 6M (manufactura)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Mano de obra — habilidades, capacitación, fatiga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Método — procedimientos, estándares, secuencia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Máquina — equipos, sistemas, herramientas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Material — insumos, calidad, disponibilidad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Medición — métricas, instrumentos, datos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Medio ambiente — condiciones, entorno, regulación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DEA"/>
                </a:solidFill>
                <a:latin typeface="Calibri"/>
              </a:defRPr>
            </a:pPr>
            <a:r>
              <a:t>Adaptación para servicios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91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Personas — roles, competencias, disponibilidad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Proceso — flujo, pasos, handoffs, aprobaciones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Tecnología — sistemas, integración, uptime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Políticas — reglas, gobierno, compliance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Proveedores — terceros, SLAs, dependencias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Información — datos, comunicación, visibilidad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Ref: Ishikawa, K. (1985). What is Total Quality Control? The Japanese Way. Prentice-Hall.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SIPOC — Vista de alto nivel del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Suppliers, Inputs, Process, Outputs,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20"/>
              </a:spcAft>
              <a:defRPr sz="1600">
                <a:solidFill>
                  <a:srgbClr val="0A1628"/>
                </a:solidFill>
                <a:latin typeface="Calibri"/>
              </a:defRPr>
            </a:pPr>
            <a:r>
              <a:t>Herramienta para definir el alcance de un proceso antes de hacer el VSM detallado.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DEA"/>
                </a:solidFill>
                <a:latin typeface="Calibri"/>
              </a:defRPr>
            </a:pPr>
            <a:r>
              <a:t>Suppliers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1628"/>
                </a:solidFill>
                <a:latin typeface="Calibri"/>
              </a:defRPr>
            </a:pPr>
            <a:r>
              <a:t>¿Quién provee los insumos?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Clientes, proveedores, áreas internas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DEA"/>
                </a:solidFill>
                <a:latin typeface="Calibri"/>
              </a:defRPr>
            </a:pPr>
            <a: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383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1628"/>
                </a:solidFill>
                <a:latin typeface="Calibri"/>
              </a:defRPr>
            </a:pPr>
            <a:r>
              <a:t>¿Qué entra al proceso?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023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Datos, materiales, solicitudes, información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DEA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383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1628"/>
                </a:solidFill>
                <a:latin typeface="Calibri"/>
              </a:defRPr>
            </a:pPr>
            <a:r>
              <a:t>¿Cuáles son los 5-7 pasos principales?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023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Vista macro, no detallada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9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DEA"/>
                </a:solidFill>
                <a:latin typeface="Calibri"/>
              </a:defRPr>
            </a:pPr>
            <a:r>
              <a:t>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9" y="3383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1628"/>
                </a:solidFill>
                <a:latin typeface="Calibri"/>
              </a:defRPr>
            </a:pPr>
            <a:r>
              <a:t>¿Qué sale del proceso?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4023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Producto, servicio, decisión, documento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926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DEA"/>
                </a:solidFill>
                <a:latin typeface="Calibri"/>
              </a:defRPr>
            </a:pPr>
            <a:r>
              <a:t>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383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1628"/>
                </a:solidFill>
                <a:latin typeface="Calibri"/>
              </a:defRPr>
            </a:pPr>
            <a:r>
              <a:t>¿Quién recibe la salida?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4023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Cliente final, siguiente proceso, regulador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1628"/>
                </a:solidFill>
                <a:latin typeface="Calibri"/>
              </a:defRPr>
            </a:pPr>
            <a:r>
              <a:t>Cuándo usar SIPOC:</a:t>
            </a:r>
            <a:br/>
            <a:r>
              <a:t>→ Antes del VSM para alinear al equipo sobre qué proceso estamos mapeando</a:t>
            </a:r>
            <a:br/>
            <a:r>
              <a:t>→ Cuando hay confusión sobre dónde empieza y termina el proceso</a:t>
            </a:r>
            <a:br/>
            <a:r>
              <a:t>→ Para presentar el proceso a stakeholders que no conocen el detalle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Ref: Pyzdek, T. &amp; Keller, P. (2014). The Six Sigma Handbook. McGraw-Hill.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A3 Thinking — Resolución de problemas en una página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Toyota — Formato estándar de pensamiento estructurado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5DEA"/>
                </a:solidFill>
                <a:latin typeface="Calibri"/>
              </a:defRPr>
            </a:pPr>
            <a:r>
              <a:t>Lado izquierdo: ENTENDER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1. Contexto / Background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¿Por qué estamos trabajando en esto?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2. Condición actual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¿Qué está pasando hoy? (datos, no opiniones)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3. Objetivo / Target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¿Qué queremos lograr? (específico y medible)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4. Análisis de causa raíz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¿Por qué existe el gap? (5 Whys, Ishikawa)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5DEA"/>
                </a:solidFill>
                <a:latin typeface="Calibri"/>
              </a:defRPr>
            </a:pPr>
            <a:r>
              <a:t>Lado derecho: ACTUAR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5. Contramedidas propuestas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¿Qué vamos a hacer? (acciones específicas)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6. Plan de implementación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¿Quién, cuándo, cómo?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7. Seguimiento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¿Cómo sabremos si funcionó?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El formato A3 fuerza síntesis: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si no cabe en una página, no lo entiendes bien.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Ref: Sobek, D. &amp; Smalley, A. (2008). Understanding A3 Thinking. Productivity Press.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Kanban — Gestión visual del flujo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Sistema pull para controlar el trabajo en proceso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Kanban (看板) = 'señal visual' en japonés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Principios fundamentales: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Visualiza el flujo de trabajo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Limita el WIP (Work In Progress)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Gestiona el flujo, no las personas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Haz las políticas explícitas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Mejora colaborativamente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WIP Limits: si todo es prioridad, nada es prioridad.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Limitar el WIP OBLIGA a terminar antes de empezar.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DEA"/>
                </a:solidFill>
                <a:latin typeface="Calibri"/>
              </a:defRPr>
            </a:pPr>
            <a:r>
              <a:t>Tablero Kanban básico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Por hacer  |  En proceso  |  Hecho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(backlog)    (WIP limit=3)    (done)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Métricas Kanban: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Lead time: cuánto tarda una tarjeta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Throughput: cuántas tarjetas/semana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WIP: cuántas tarjetas en proceso ahora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Herramientas: Trello, Jira, Notion, Miro,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o simplemente post-its en una pared.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Ref: Anderson, D. (2010). Kanban. Blue Hole Press. | Ohno, T. (1988). Toyota Production 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Teoría de Restricciones (TOC)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Eliyahu Goldratt — 'The Goal' (1984)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Principio central: todo sistema tiene UN cuello de botella que determina el throughput total.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Los 5 pasos de enfoque: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1. IDENTIFICAR la restricción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2. EXPLOTAR la restricción (maximizar su uso)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3. SUBORDINAR todo lo demás a la restricción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4. ELEVAR la restricción (invertir para ampliarla)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5. REPETIR (la restricción se mueve)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Conexión con VSM: el paso con mayor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espera en tu VSM ES tu restricción.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5DEA"/>
                </a:solidFill>
                <a:latin typeface="Calibri"/>
              </a:defRPr>
            </a:pPr>
            <a:r>
              <a:t>Aplicación práctica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Si tu cuello es la validación financiera (8h espera):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Explotar → Ventana fija de liberación 2x/día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Subordinar → No enviar más pedidos de los que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    crédito puede procesar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Elevar → Automatizar aprobación para clientes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    con historial limpio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NO optimices pasos que no son el cuello de botella.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Es desperdicio de esfuerzo.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Ref: Goldratt, E. (1984). The Goal. North River Press. | Goldratt, E. (1997). Critical Chain.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PDCA / PDSA — El ciclo de mejora continua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W. Edwards Deming / Walter Shewhart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5DEA"/>
                </a:solidFill>
                <a:latin typeface="Calibri"/>
              </a:defRPr>
            </a:pPr>
            <a:r>
              <a:t>El ciclo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PLAN — Define qué vas a cambiar y qué esperas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Hipótesis: 'Si hacemos X, entonces Y mejorará'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Define la métrica antes de actuar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DO — Ejecuta el cambio a pequeña escala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Piloto, no big bang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STUDY/CHECK — Mide los resultados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¿Pasó lo que esperábamos?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¿Qué aprendimos?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ACT — Estandariza si funcionó, ajusta si 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Errores comunes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❌ Plan sin métrica → no sabes si funcionó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❌ Do sin Plan → improvisación disfrazada de acción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❌ Saltar el Study → repetir lo que no funciona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❌ No Act → el aprendizaje se pierde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Conexión con el bootcamp: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Plan = tu plan de 30 días (módulo 7)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Do = ejecutar las acciones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Study = seguimiento semanal (módulo 8)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Act = ajustar según tendencias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Ref: Deming, W.E. (1986). Out of the Crisis. MIT Press. | Shewhart, W. (1939). Statistical Method.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Parte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A8FE6"/>
                </a:solidFill>
                <a:latin typeface="Calibri"/>
              </a:defRPr>
            </a:pPr>
            <a:r>
              <a:t>Contexto Latinoamericano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Operar en Latinoamérica: restricciones reales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Lo que los libros de Lean no te cuentan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Energía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Microcortes afectan producción, ERP, cadena de frío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Mitigación: UPS, generador, procesos offline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Reposición importada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Lead time de meses, no semanas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Mitigación: proveedores alternativos locales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Talento clave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Alta rotación, dependencia de personas específicas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Mitigación: documentar, cross-training, back-ups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Transporte tercerizado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Poca confiabilidad, poco control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Mitigación: ventanas de despacho, plan B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Coordinación informal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WhatsApp como 'sistema' de gestión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Mitigación: formalizar lo crítico, tolerar lo operativo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Gobierno y regulación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Cambios normativos frecuentes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Mitigación: flexibilidad en el diseño del proceso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Parte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A8FE6"/>
                </a:solidFill>
                <a:latin typeface="Calibri"/>
              </a:defRPr>
            </a:pPr>
            <a:r>
              <a:t>Bibliografía y recursos recomendados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Bibliografía esencial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Los 10 libros que deberías conocer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1. Womack &amp; Jones (1996). Lean Thinking. Free Press.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2. Rother &amp; Shook (1999). Learning to See. LEI.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3. Liker, J. (2004). The Toyota Way. McGraw-Hill.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4. Goldratt, E. (1984). The Goal. North River Press.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5. Ohno, T. (1988). Toyota Production System. Productivity Press.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6. Deming, W.E. (1986). Out of the Crisis. MIT Press.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7. Imai, M. (1997). Gemba Kaizen. McGraw-Hill.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8. Sobek &amp; Smalley (2008). Understanding A3 Thinking. Productivity.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9. Anderson, D. (2010). Kanban. Blue Hole Press.</a:t>
            </a:r>
          </a:p>
          <a:p>
            <a:pPr>
              <a:spcAft>
                <a:spcPts val="1680"/>
              </a:spcAft>
              <a:defRPr sz="1400">
                <a:solidFill>
                  <a:srgbClr val="0A1628"/>
                </a:solidFill>
                <a:latin typeface="Calibri"/>
              </a:defRPr>
            </a:pPr>
            <a:r>
              <a:t>10. Wheeler, D. (2000). Understanding Variation. SPC Press.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Calibri"/>
              </a:defRPr>
            </a:pPr>
            <a:r>
              <a:t>Recursos online de libre acceso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Para seguir aprendiendo después del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Lean Enterprise Institute (lean.org)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Artículos, videos, lexicon completo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Gemba Academy (gembaacademy.com)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Videos, plantillas, cursos gratuitos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ASQ — American Society for Quality (asq.org)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Herramientas, COQ, matrices de decisión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Deming Institute (deming.org)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PDSA, System of Profound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CMMI Institute (cmmiinstitute.com)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Modelos de madurez organizacional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ISO (iso.org)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ISO 31000 Risk Management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ISO 9001 Quality Management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MIT OpenCourseWare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    → Operations Management (gratis)</a:t>
            </a: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</a:p>
          <a:p>
            <a:pPr>
              <a:spcAft>
                <a:spcPts val="1800"/>
              </a:spcAft>
              <a:defRPr sz="1500">
                <a:solidFill>
                  <a:srgbClr val="0A1628"/>
                </a:solidFill>
                <a:latin typeface="Calibri"/>
              </a:defRPr>
            </a:pPr>
            <a:r>
              <a:t>Plataforma OpsFlow: opsflow-gold.vercel.app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A8FE6"/>
                </a:solidFill>
                <a:latin typeface="Calibri"/>
              </a:defRPr>
            </a:pPr>
            <a:r>
              <a:t>Prof. Ulises González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linkedin.com/in/ulisesgonzalez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8FE6"/>
                </a:solidFill>
                <a:latin typeface="Calibri"/>
              </a:defRPr>
            </a:pPr>
            <a:r>
              <a:t>Plataforma: opsflow-gold.vercel.app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IESA — Bootcamp de Optimización Operativa — Marzo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